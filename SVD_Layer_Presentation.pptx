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91640"/>
            <a:ext cx="107259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Batch Normalization using an SVD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63240"/>
            <a:ext cx="10725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Abdulmohsen Mohammedsaleh   •   Majed Alsulami   •   Yousef Alogiley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Mentor: Jad Mounayer   •   KAUST Academy Summer Program 2026   •   University of Oxford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Code: github.com/Yousef10p/RR-Layer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8448" y="5074920"/>
            <a:ext cx="9601200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aust_acade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453" y="5317236"/>
            <a:ext cx="995933" cy="566928"/>
          </a:xfrm>
          <a:prstGeom prst="rect">
            <a:avLst/>
          </a:prstGeom>
        </p:spPr>
      </p:pic>
      <p:pic>
        <p:nvPicPr>
          <p:cNvPr id="8" name="Picture 7" descr="ka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435" y="5349240"/>
            <a:ext cx="1092006" cy="502920"/>
          </a:xfrm>
          <a:prstGeom prst="rect">
            <a:avLst/>
          </a:prstGeom>
        </p:spPr>
      </p:pic>
      <p:pic>
        <p:nvPicPr>
          <p:cNvPr id="9" name="Picture 8" descr="mo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489" y="5349240"/>
            <a:ext cx="982805" cy="502920"/>
          </a:xfrm>
          <a:prstGeom prst="rect">
            <a:avLst/>
          </a:prstGeom>
        </p:spPr>
      </p:pic>
      <p:pic>
        <p:nvPicPr>
          <p:cNvPr id="10" name="Picture 9" descr="oxf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343" y="5390388"/>
            <a:ext cx="1424335" cy="420624"/>
          </a:xfrm>
          <a:prstGeom prst="rect">
            <a:avLst/>
          </a:prstGeom>
        </p:spPr>
      </p:pic>
      <p:pic>
        <p:nvPicPr>
          <p:cNvPr id="11" name="Picture 10" descr="alag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1726" y="5289804"/>
            <a:ext cx="763885" cy="621792"/>
          </a:xfrm>
          <a:prstGeom prst="rect">
            <a:avLst/>
          </a:prstGeom>
        </p:spPr>
      </p:pic>
      <p:pic>
        <p:nvPicPr>
          <p:cNvPr id="12" name="Picture 11" descr="rz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9660" y="5317236"/>
            <a:ext cx="47158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Background: Batch Normalization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16355C"/>
                </a:solidFill>
                <a:latin typeface="Calibri"/>
              </a:rPr>
              <a:t>y = γ (x - μ</a:t>
            </a:r>
            <a:r>
              <a:rPr sz="2000" b="0" i="0" baseline="-25000">
                <a:solidFill>
                  <a:srgbClr val="16355C"/>
                </a:solidFill>
                <a:latin typeface="Calibri"/>
              </a:rPr>
              <a:t>B</a:t>
            </a:r>
            <a:r>
              <a:rPr sz="2000" b="0" i="0">
                <a:solidFill>
                  <a:srgbClr val="16355C"/>
                </a:solidFill>
                <a:latin typeface="Calibri"/>
              </a:rPr>
              <a:t>) / σ</a:t>
            </a:r>
            <a:r>
              <a:rPr sz="2000" b="0" i="0" baseline="-25000">
                <a:solidFill>
                  <a:srgbClr val="16355C"/>
                </a:solidFill>
                <a:latin typeface="Calibri"/>
              </a:rPr>
              <a:t>B</a:t>
            </a:r>
            <a:r>
              <a:rPr sz="2000" b="0" i="0">
                <a:solidFill>
                  <a:srgbClr val="16355C"/>
                </a:solidFill>
                <a:latin typeface="Calibri"/>
              </a:rPr>
              <a:t> + 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394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BN rescales every feature of a mini-batch to </a:t>
            </a:r>
            <a:r>
              <a:rPr sz="1500" b="1" i="0">
                <a:solidFill>
                  <a:srgbClr val="16355C"/>
                </a:solidFill>
                <a:latin typeface="Calibri"/>
              </a:rPr>
              <a:t>mean 0 and variance 1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, then applies a learned affine map.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It makes networks </a:t>
            </a:r>
            <a:r>
              <a:rPr sz="1500" b="1" i="0">
                <a:solidFill>
                  <a:srgbClr val="16355C"/>
                </a:solidFill>
                <a:latin typeface="Calibri"/>
              </a:rPr>
              <a:t>train faster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, reach higher accuracy, and keeps activation distributions stable, which is why it is a standard layer in deep learning.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Its statistics come from the mini-batch itself: BN is a </a:t>
            </a:r>
            <a:r>
              <a:rPr sz="1500" b="1" i="0">
                <a:solidFill>
                  <a:srgbClr val="16355C"/>
                </a:solidFill>
                <a:latin typeface="Calibri"/>
              </a:rPr>
              <a:t>batch-level operation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, not a per-sample one.</a:t>
            </a:r>
          </a:p>
        </p:txBody>
      </p:sp>
      <p:pic>
        <p:nvPicPr>
          <p:cNvPr id="6" name="Picture 5" descr="intro_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86400" cy="1645919"/>
          </a:xfrm>
          <a:prstGeom prst="rect">
            <a:avLst/>
          </a:prstGeom>
        </p:spPr>
      </p:pic>
      <p:pic>
        <p:nvPicPr>
          <p:cNvPr id="7" name="Picture 6" descr="bn_paper_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29000"/>
            <a:ext cx="5486400" cy="15474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504959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From Ioffe and Szegedy (2015): faster training with BN (left); an activation stays stable through training with BN (right).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The Idea: Normalize with a Truncated SVD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486400" cy="22402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6355C"/>
                </a:solidFill>
                <a:latin typeface="Calibri"/>
              </a:rPr>
              <a:t>Rank Reduction Autoencoders (Mounayer et al., 2024)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B3A4A"/>
                </a:solidFill>
                <a:latin typeface="Calibri"/>
              </a:rPr>
              <a:t>showed that the truncated SVD can regularize an autoencoder with no extra loss term.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B3A4A"/>
                </a:solidFill>
                <a:latin typeface="Calibri"/>
              </a:rPr>
              <a:t>Like BN, it is a batch-level operation. Unlike BN, its constraint is </a:t>
            </a:r>
            <a:r>
              <a:rPr sz="1450" b="1" i="0">
                <a:solidFill>
                  <a:srgbClr val="16355C"/>
                </a:solidFill>
                <a:latin typeface="Calibri"/>
              </a:rPr>
              <a:t>geometric (a rank constraint)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, not moment-based (mean and variance).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03320"/>
            <a:ext cx="5486400" cy="160020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620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6355C"/>
                </a:solidFill>
                <a:latin typeface="Calibri"/>
              </a:rPr>
              <a:t>Can the truncated SVD alone normalize a batch as well as BN does?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We build it into a standalone, drop-in SVD layer to find out.</a:t>
            </a:r>
          </a:p>
        </p:txBody>
      </p:sp>
      <p:pic>
        <p:nvPicPr>
          <p:cNvPr id="7" name="Picture 6" descr="method_s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5394960" cy="18259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345361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The batch, rebuilt from only its top-k singular components (right: k = 1 example).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069080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5120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16355C"/>
                </a:solidFill>
                <a:latin typeface="Calibri"/>
              </a:rPr>
              <a:t>X = U Σ V</a:t>
            </a:r>
            <a:r>
              <a:rPr sz="1900" b="0" i="0" baseline="30000">
                <a:solidFill>
                  <a:srgbClr val="16355C"/>
                </a:solidFill>
                <a:latin typeface="Calibri"/>
              </a:rPr>
              <a:t>T</a:t>
            </a:r>
            <a:r>
              <a:rPr sz="1900" b="0" i="0">
                <a:solidFill>
                  <a:srgbClr val="16355C"/>
                </a:solidFill>
                <a:latin typeface="Calibri"/>
              </a:rPr>
              <a:t>   →   X̂ = U</a:t>
            </a:r>
            <a:r>
              <a:rPr sz="1900" b="0" i="0" baseline="-25000">
                <a:solidFill>
                  <a:srgbClr val="16355C"/>
                </a:solidFill>
                <a:latin typeface="Calibri"/>
              </a:rPr>
              <a:t>k</a:t>
            </a:r>
            <a:r>
              <a:rPr sz="1900" b="0" i="0">
                <a:solidFill>
                  <a:srgbClr val="16355C"/>
                </a:solidFill>
                <a:latin typeface="Calibri"/>
              </a:rPr>
              <a:t> Σ</a:t>
            </a:r>
            <a:r>
              <a:rPr sz="1900" b="0" i="0" baseline="-25000">
                <a:solidFill>
                  <a:srgbClr val="16355C"/>
                </a:solidFill>
                <a:latin typeface="Calibri"/>
              </a:rPr>
              <a:t>k</a:t>
            </a:r>
            <a:r>
              <a:rPr sz="1900" b="0" i="0">
                <a:solidFill>
                  <a:srgbClr val="16355C"/>
                </a:solidFill>
                <a:latin typeface="Calibri"/>
              </a:rPr>
              <a:t> V</a:t>
            </a:r>
            <a:r>
              <a:rPr sz="1900" b="0" i="0" baseline="-25000">
                <a:solidFill>
                  <a:srgbClr val="16355C"/>
                </a:solidFill>
                <a:latin typeface="Calibri"/>
              </a:rPr>
              <a:t>k</a:t>
            </a:r>
            <a:r>
              <a:rPr sz="1900" b="0" i="0" baseline="30000">
                <a:solidFill>
                  <a:srgbClr val="16355C"/>
                </a:solidFill>
                <a:latin typeface="Calibri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The SVD Layer: Train and Eval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486400" cy="265176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9CA6"/>
                </a:solidFill>
                <a:latin typeface="Calibri"/>
              </a:rPr>
              <a:t>Training mode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A truncated SVD is computed on every mini-batch and the rank-k reconstruction is passed on. Gradients flow through the SVD.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The basis U</a:t>
            </a:r>
            <a:r>
              <a:rPr sz="1400" b="0" i="0" baseline="-25000">
                <a:solidFill>
                  <a:srgbClr val="2B3A4A"/>
                </a:solidFill>
                <a:latin typeface="Calibri"/>
              </a:rPr>
              <a:t>k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 of each batch is stored in a small rolling bank (the last 20 bases).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486400" cy="265176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09CA6"/>
                </a:solidFill>
                <a:latin typeface="Calibri"/>
              </a:rPr>
              <a:t>Evaluation mode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The stored bases are merged into one frozen inference basis; test inputs are projected onto it.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This mirrors BN's running statistics: batch-independent behavior at test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5486400" cy="123444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5029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355C"/>
                </a:solidFill>
                <a:latin typeface="Calibri"/>
              </a:rPr>
              <a:t>The rank k is a strength dial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B3A4A"/>
                </a:solidFill>
                <a:latin typeface="Calibri"/>
              </a:rPr>
              <a:t>The directions are found automatically by the SVD; only how many survive is chosen by the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486400" cy="123444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6355C"/>
                </a:solidFill>
                <a:latin typeface="Calibri"/>
              </a:rPr>
              <a:t>The frozen basis costs almost nothing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B3A4A"/>
                </a:solidFill>
                <a:latin typeface="Calibri"/>
              </a:rPr>
              <a:t>Per-batch SVD 0.0004, basis bank 0.0007, full-data basis 0.0006 test MSE (clean data, 4 seeds).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55677A"/>
                </a:solidFill>
                <a:latin typeface="Calibri"/>
              </a:rPr>
              <a:t>Placed exactly where BN would go: conv → SVD layer (flatten, truncate, unflatten) → 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Setup: Point-Source Localization</a:t>
            </a:r>
          </a:p>
        </p:txBody>
      </p:sp>
      <p:pic>
        <p:nvPicPr>
          <p:cNvPr id="3" name="Picture 2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143000"/>
            <a:ext cx="10058400" cy="2630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9848" y="382852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Three architectures with identical initial Conv/Linear weights; only the slot between each convolution and its ReLU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3630168" cy="18288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3246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009CA6"/>
                </a:solidFill>
                <a:latin typeface="Calibri"/>
              </a:rPr>
              <a:t>Task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3A4A"/>
                </a:solidFill>
                <a:latin typeface="Calibri"/>
              </a:rPr>
              <a:t>Regress the center (x0, y0) of a Gaussian source in a 64×64 image, as in astrometry and single-molecule microscopy. Optionally under noise or on real background clutter.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4572000"/>
            <a:ext cx="3630168" cy="18288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4754880"/>
            <a:ext cx="3246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009CA6"/>
                </a:solidFill>
                <a:latin typeface="Calibri"/>
              </a:rPr>
              <a:t>Controlled comparison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3A4A"/>
                </a:solidFill>
                <a:latin typeface="Calibri"/>
              </a:rPr>
              <a:t>Plain (OA) vs BatchNorm2d (OA_BN) vs SVD layer (OA_RR), trained from identical initial weights, up to 32 seeds per reported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572000"/>
            <a:ext cx="3630168" cy="18288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754880"/>
            <a:ext cx="3246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009CA6"/>
                </a:solidFill>
                <a:latin typeface="Calibri"/>
              </a:rPr>
              <a:t>Configuration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3A4A"/>
                </a:solidFill>
                <a:latin typeface="Calibri"/>
              </a:rPr>
              <a:t>Rank k = 8, batch size 32, Adam lr 0.001, MSE loss, 20 epochs (scaled up for small training sets), PyTorch.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Rank Is a Strength Dial</a:t>
            </a:r>
          </a:p>
        </p:txBody>
      </p:sp>
      <p:pic>
        <p:nvPicPr>
          <p:cNvPr id="3" name="Picture 2" descr="rank_swee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760720" cy="35694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922718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Clean data, per-layer placement, 4 seeds. Dashed: per-layer BN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371600"/>
            <a:ext cx="5029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Error falls monotonically with k: 0.0414 at k = 2 down to 0.0002 at k = 32 (= batch size, no truncation).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Even the worst setting (k = 2) still beats BN on the same clean data (0.0611).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We fix </a:t>
            </a:r>
            <a:r>
              <a:rPr sz="1450" b="1" i="0">
                <a:solidFill>
                  <a:srgbClr val="16355C"/>
                </a:solidFill>
                <a:latin typeface="Calibri"/>
              </a:rPr>
              <a:t>k = 8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: the smallest rank that solves the task comfortably.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42062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6355C"/>
                </a:solidFill>
                <a:latin typeface="Calibri"/>
              </a:rPr>
              <a:t>60×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52578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9CA6"/>
                </a:solidFill>
                <a:latin typeface="Calibri"/>
              </a:rPr>
              <a:t>the cost of setting the rank too small (k = 2 vs k =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Headline Result: Small Data + Heavy Noise</a:t>
            </a:r>
          </a:p>
        </p:txBody>
      </p:sp>
      <p:pic>
        <p:nvPicPr>
          <p:cNvPr id="3" name="Picture 2" descr="exp4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029200" cy="3571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7905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Test MSE (log) vs training-set size, noise std 1.0, 32 seeds, mean ± std.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234440"/>
            <a:ext cx="5669280" cy="1060704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234440"/>
            <a:ext cx="214884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6355C"/>
                </a:solidFill>
                <a:latin typeface="Calibri"/>
              </a:rPr>
              <a:t>3.9–15×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34440"/>
            <a:ext cx="31089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better than BN at every training-set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496312"/>
            <a:ext cx="5669280" cy="1060704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96312"/>
            <a:ext cx="214884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6355C"/>
                </a:solidFill>
                <a:latin typeface="Calibri"/>
              </a:rPr>
              <a:t>1.6–3×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496312"/>
            <a:ext cx="31089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better than the plain network at every training-set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758183"/>
            <a:ext cx="5669280" cy="1060704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758183"/>
            <a:ext cx="214884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6355C"/>
                </a:solidFill>
                <a:latin typeface="Calibri"/>
              </a:rPr>
              <a:t>32 seeds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58183"/>
            <a:ext cx="31089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B3A4A"/>
                </a:solidFill>
                <a:latin typeface="Calibri"/>
              </a:rPr>
              <a:t>tightest variance and smallest train/test gap of the three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020055"/>
            <a:ext cx="5669280" cy="137160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5020055"/>
            <a:ext cx="52120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355C"/>
                </a:solidFill>
                <a:latin typeface="Calibri"/>
              </a:rPr>
              <a:t>Why it works: </a:t>
            </a:r>
            <a:r>
              <a:rPr sz="1350" b="0" i="0">
                <a:solidFill>
                  <a:srgbClr val="2B3A4A"/>
                </a:solidFill>
                <a:latin typeface="Calibri"/>
              </a:rPr>
              <a:t>i.i.d. pixel noise is spread across all singular directions while the smooth source is low-rank, so the top-k projection strips noise faster than signal at every layer.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The Failure Mode: Structured Backgrounds</a:t>
            </a:r>
          </a:p>
        </p:txBody>
      </p:sp>
      <p:pic>
        <p:nvPicPr>
          <p:cNvPr id="3" name="Picture 2" descr="mnis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852160" cy="1528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71789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A known source (red +) injected on real MNIST backgrounds: exact ground truth, real clutter.</a:t>
            </a:r>
          </a:p>
        </p:txBody>
      </p:sp>
      <p:pic>
        <p:nvPicPr>
          <p:cNvPr id="5" name="Picture 4" descr="mnis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429000"/>
            <a:ext cx="3291840" cy="2733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217765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55677A"/>
                </a:solidFill>
                <a:latin typeface="Calibri"/>
              </a:rPr>
              <a:t>Test MSE (log), 16 seeds.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28016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6355C"/>
                </a:solidFill>
                <a:latin typeface="Calibri"/>
              </a:rPr>
              <a:t>Plain 0.0089  &lt;  SVD 0.0509  &lt;  BN 0.0755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057400"/>
            <a:ext cx="4937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The ranking flips: the plain network wins; the SVD layer still beats BN by 1.5×.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MNIST digits are themselves roughly low-rank and strong (1.5× the source peak), so they dominate the batch variance.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Keeping the top singular components keeps the clutter as faithfully as the signal.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The layer's advantage is specific to </a:t>
            </a:r>
            <a:r>
              <a:rPr sz="1450" b="1" i="0">
                <a:solidFill>
                  <a:srgbClr val="16355C"/>
                </a:solidFill>
                <a:latin typeface="Calibri"/>
              </a:rPr>
              <a:t>noise-like nuisance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 and inverts for </a:t>
            </a:r>
            <a:r>
              <a:rPr sz="1450" b="1" i="0">
                <a:solidFill>
                  <a:srgbClr val="16355C"/>
                </a:solidFill>
                <a:latin typeface="Calibri"/>
              </a:rPr>
              <a:t>structure-like nuisance</a:t>
            </a:r>
            <a:r>
              <a:rPr sz="1450" b="0" i="0">
                <a:solidFill>
                  <a:srgbClr val="2B3A4A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A Practical Lesson: Gradients Through the SVD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4937760" cy="301752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4480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 i="0">
                <a:solidFill>
                  <a:srgbClr val="16355C"/>
                </a:solidFill>
                <a:latin typeface="Calibri"/>
              </a:rPr>
              <a:t>Hand-written analytic backward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The textbook formula contains 1/(σ</a:t>
            </a:r>
            <a:r>
              <a:rPr sz="1400" b="0" i="0" baseline="-25000">
                <a:solidFill>
                  <a:srgbClr val="2B3A4A"/>
                </a:solidFill>
                <a:latin typeface="Calibri"/>
              </a:rPr>
              <a:t>i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 - σ</a:t>
            </a:r>
            <a:r>
              <a:rPr sz="1400" b="0" i="0" baseline="-25000">
                <a:solidFill>
                  <a:srgbClr val="2B3A4A"/>
                </a:solidFill>
                <a:latin typeface="Calibri"/>
              </a:rPr>
              <a:t>j</a:t>
            </a:r>
            <a:r>
              <a:rPr sz="1400" b="0" i="0">
                <a:solidFill>
                  <a:srgbClr val="2B3A4A"/>
                </a:solidFill>
                <a:latin typeface="Calibri"/>
              </a:rPr>
              <a:t>) factors that blow up whenever two singular values come close, which is frequent for structured feature maps.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Per-layer training diverged within a few epochs and never recovered.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69280" y="2606040"/>
            <a:ext cx="868680" cy="548640"/>
          </a:xfrm>
          <a:prstGeom prst="rightArrow">
            <a:avLst/>
          </a:prstGeom>
          <a:solidFill>
            <a:srgbClr val="00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20840" y="1371600"/>
            <a:ext cx="4937760" cy="3017520"/>
          </a:xfrm>
          <a:prstGeom prst="roundRect">
            <a:avLst>
              <a:gd name="adj" fmla="val 10000"/>
            </a:avLst>
          </a:prstGeom>
          <a:solidFill>
            <a:srgbClr val="E8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554480"/>
            <a:ext cx="4480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 i="0">
                <a:solidFill>
                  <a:srgbClr val="16355C"/>
                </a:solidFill>
                <a:latin typeface="Calibri"/>
              </a:rPr>
              <a:t>PyTorch native autograd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Stable at every position in the network.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Per-layer training loss 2.68 → 0.0003 over 20 epochs; over 8 seeds, test MSE 0.0003 ± 0.0002 (plain 0.0000, BN 0.0009).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3A4A"/>
                </a:solidFill>
                <a:latin typeface="Calibri"/>
              </a:rPr>
              <a:t>All final results use this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 backward pass through the SVD is the numerically dangerous part: prefer the battle-tested library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The SVD layer beat BN in every comparison we ran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 (clean, noisy, small-data, real backgrounds), by 1.5–15×.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Under heavy input noise it beat even the unregularized network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 at every dataset size tested (1.6–3×), with the tightest seed variance and the smallest train/test gap.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Its weakness is equally clear: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 when the nuisance is itself low-rank and strong (real structured backgrounds), the top-k projection preserves the clutter and the plain network wins.</a:t>
            </a:r>
          </a:p>
          <a:p>
            <a:pPr algn="l">
              <a:spcAft>
                <a:spcPts val="1800"/>
              </a:spcAft>
            </a:pPr>
            <a:r>
              <a:rPr sz="17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The early instability was a gradient bug, not the layer:</a:t>
            </a:r>
            <a:r>
              <a:rPr sz="1700" b="0" i="0">
                <a:solidFill>
                  <a:srgbClr val="CADCFC"/>
                </a:solidFill>
                <a:latin typeface="Calibri"/>
              </a:rPr>
              <a:t> with native SVD autograd it trains stably at every position in the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6355C"/>
                </a:solidFill>
                <a:latin typeface="Calibri"/>
              </a:rPr>
              <a:t>Future Work and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6355C"/>
                </a:solidFill>
                <a:latin typeface="Calibri"/>
              </a:rPr>
              <a:t>Normalize the singular values.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 The layer constrains the rank of the batch but not its scale; pushing retained singular values toward 1 (or soft-shrinking the tail) would make it a true normalizer in BN's sense.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6355C"/>
                </a:solidFill>
                <a:latin typeface="Calibri"/>
              </a:rPr>
              <a:t>Handle structured nuisance.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 Reject the top components (robust-PCA / KLIP style) or pick the rank from an energy threshold.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09CA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6355C"/>
                </a:solidFill>
                <a:latin typeface="Calibri"/>
              </a:rPr>
              <a:t>Scale up.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 Real data where the noise-like vs structure-like character of the nuisance is unknown in advance.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25880"/>
            <a:ext cx="5349240" cy="2834640"/>
          </a:xfrm>
          <a:prstGeom prst="roundRect">
            <a:avLst>
              <a:gd name="adj" fmla="val 10000"/>
            </a:avLst>
          </a:prstGeom>
          <a:solidFill>
            <a:srgbClr val="163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600200"/>
            <a:ext cx="48463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from svd_layer import RRLayer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block = nn.Sequential(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nn.Conv2d(8, 16, 3, padding=1),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RRLayer(rank=8),  # where BN would go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nn.ReLU(),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343400"/>
            <a:ext cx="5349240" cy="118872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4343400"/>
            <a:ext cx="4846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6355C"/>
                </a:solidFill>
                <a:latin typeface="Courier New"/>
              </a:rPr>
              <a:t>github.com/Yousef10p/RR-Layer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3A4A"/>
                </a:solidFill>
                <a:latin typeface="Calibri"/>
              </a:rPr>
              <a:t>svd_layer.py (standalone module) + the experiment notebook that produced every figure shown.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09CA6"/>
                </a:solidFill>
                <a:latin typeface="Calibri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67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